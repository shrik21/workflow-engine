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f0aa9497734bd0" /><Relationship Type="http://schemas.openxmlformats.org/officeDocument/2006/relationships/extended-properties" Target="/docProps/app.xml" Id="R042984baeca4447f" /><Relationship Type="http://schemas.openxmlformats.org/officeDocument/2006/relationships/officeDocument" Target="/ppt/presentation.xml" Id="R1eb2b2f9a5fd44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2e3e4e24024e34"/>
  </p:sldMasterIdLst>
  <p:notesMasterIdLst>
    <p:notesMasterId xmlns:r="http://schemas.openxmlformats.org/officeDocument/2006/relationships" r:id="R82ed23e5d7544bf1"/>
  </p:notesMasterIdLst>
  <p:sldIdLst>
    <p:sldId xmlns:r="http://schemas.openxmlformats.org/officeDocument/2006/relationships" id="256" r:id="R32fb9c6c732842a0"/>
    <p:sldId xmlns:r="http://schemas.openxmlformats.org/officeDocument/2006/relationships" id="257" r:id="R71574e3c12724e7f"/>
    <p:sldId xmlns:r="http://schemas.openxmlformats.org/officeDocument/2006/relationships" id="258" r:id="Rc9f82facf18d4abf"/>
    <p:sldId xmlns:r="http://schemas.openxmlformats.org/officeDocument/2006/relationships" id="259" r:id="Ref61b63a60434d6c"/>
    <p:sldId xmlns:r="http://schemas.openxmlformats.org/officeDocument/2006/relationships" id="260" r:id="Rb00f036f896247ce"/>
    <p:sldId xmlns:r="http://schemas.openxmlformats.org/officeDocument/2006/relationships" id="261" r:id="Rc5c3b99500ed4c65"/>
    <p:sldId xmlns:r="http://schemas.openxmlformats.org/officeDocument/2006/relationships" id="262" r:id="Ra8232958e1ea4233"/>
    <p:sldId xmlns:r="http://schemas.openxmlformats.org/officeDocument/2006/relationships" id="263" r:id="Rfe9c238504564d57"/>
    <p:sldId xmlns:r="http://schemas.openxmlformats.org/officeDocument/2006/relationships" id="264" r:id="R24b7399a9e66454b"/>
    <p:sldId xmlns:r="http://schemas.openxmlformats.org/officeDocument/2006/relationships" id="265" r:id="R1297cbf97550458e"/>
    <p:sldId xmlns:r="http://schemas.openxmlformats.org/officeDocument/2006/relationships" id="266" r:id="Rc9e6c4e450ba45f6"/>
    <p:sldId xmlns:r="http://schemas.openxmlformats.org/officeDocument/2006/relationships" id="267" r:id="R874f4c3d34d94b15"/>
    <p:sldId xmlns:r="http://schemas.openxmlformats.org/officeDocument/2006/relationships" id="268" r:id="R4fbe708e9d6548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45598922514dee" /><Relationship Type="http://schemas.openxmlformats.org/officeDocument/2006/relationships/slideMaster" Target="/ppt/slideMasters/slideMaster1.xml" Id="Rc72e3e4e24024e34" /><Relationship Type="http://schemas.openxmlformats.org/officeDocument/2006/relationships/notesMaster" Target="/ppt/notesMasters/notesMaster1.xml" Id="R82ed23e5d7544bf1" /><Relationship Type="http://schemas.openxmlformats.org/officeDocument/2006/relationships/presProps" Target="/ppt/presProps.xml" Id="R2c9844db6cd64edd" /><Relationship Type="http://schemas.openxmlformats.org/officeDocument/2006/relationships/tableStyles" Target="/ppt/tableStyles.xml" Id="R13b8846e832a4e35" /><Relationship Type="http://schemas.openxmlformats.org/officeDocument/2006/relationships/slide" Target="/ppt/slides/slide1.xml" Id="R32fb9c6c732842a0" /><Relationship Type="http://schemas.openxmlformats.org/officeDocument/2006/relationships/slide" Target="/ppt/slides/slide2.xml" Id="R71574e3c12724e7f" /><Relationship Type="http://schemas.openxmlformats.org/officeDocument/2006/relationships/slide" Target="/ppt/slides/slide3.xml" Id="Rc9f82facf18d4abf" /><Relationship Type="http://schemas.openxmlformats.org/officeDocument/2006/relationships/slide" Target="/ppt/slides/slide4.xml" Id="Ref61b63a60434d6c" /><Relationship Type="http://schemas.openxmlformats.org/officeDocument/2006/relationships/slide" Target="/ppt/slides/slide5.xml" Id="Rb00f036f896247ce" /><Relationship Type="http://schemas.openxmlformats.org/officeDocument/2006/relationships/slide" Target="/ppt/slides/slide6.xml" Id="Rc5c3b99500ed4c65" /><Relationship Type="http://schemas.openxmlformats.org/officeDocument/2006/relationships/slide" Target="/ppt/slides/slide7.xml" Id="Ra8232958e1ea4233" /><Relationship Type="http://schemas.openxmlformats.org/officeDocument/2006/relationships/slide" Target="/ppt/slides/slide8.xml" Id="Rfe9c238504564d57" /><Relationship Type="http://schemas.openxmlformats.org/officeDocument/2006/relationships/slide" Target="/ppt/slides/slide9.xml" Id="R24b7399a9e66454b" /><Relationship Type="http://schemas.openxmlformats.org/officeDocument/2006/relationships/slide" Target="/ppt/slides/slide10.xml" Id="R1297cbf97550458e" /><Relationship Type="http://schemas.openxmlformats.org/officeDocument/2006/relationships/slide" Target="/ppt/slides/slide11.xml" Id="Rc9e6c4e450ba45f6" /><Relationship Type="http://schemas.openxmlformats.org/officeDocument/2006/relationships/slide" Target="/ppt/slides/slide12.xml" Id="R874f4c3d34d94b15" /><Relationship Type="http://schemas.openxmlformats.org/officeDocument/2006/relationships/slide" Target="/ppt/slides/slide13.xml" Id="R4fbe708e9d6548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a917f992654f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ce19b239c740e5" /><Relationship Type="http://schemas.openxmlformats.org/officeDocument/2006/relationships/notesMaster" Target="/ppt/notesMasters/notesMaster1.xml" Id="R225c03c97e1349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a033f0cb4648a9" /><Relationship Type="http://schemas.openxmlformats.org/officeDocument/2006/relationships/notesMaster" Target="/ppt/notesMasters/notesMaster1.xml" Id="Recd879d201a948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392190a4744cd3" /><Relationship Type="http://schemas.openxmlformats.org/officeDocument/2006/relationships/notesMaster" Target="/ppt/notesMasters/notesMaster1.xml" Id="R37bd7f4a845f41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4809b3cc98451b" /><Relationship Type="http://schemas.openxmlformats.org/officeDocument/2006/relationships/notesMaster" Target="/ppt/notesMasters/notesMaster1.xml" Id="R7c3065d20ff648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a9fa127af344c2" /><Relationship Type="http://schemas.openxmlformats.org/officeDocument/2006/relationships/notesMaster" Target="/ppt/notesMasters/notesMaster1.xml" Id="Rb56820da522840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c05c7f91b54c80" /><Relationship Type="http://schemas.openxmlformats.org/officeDocument/2006/relationships/notesMaster" Target="/ppt/notesMasters/notesMaster1.xml" Id="R1e578be1fcea4b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bd4a47ff884fd3" /><Relationship Type="http://schemas.openxmlformats.org/officeDocument/2006/relationships/notesMaster" Target="/ppt/notesMasters/notesMaster1.xml" Id="R39b26a1d4ca64a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300a9f7ad74867" /><Relationship Type="http://schemas.openxmlformats.org/officeDocument/2006/relationships/notesMaster" Target="/ppt/notesMasters/notesMaster1.xml" Id="R0ec33cca0e9a49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d8aea9eda34e08" /><Relationship Type="http://schemas.openxmlformats.org/officeDocument/2006/relationships/notesMaster" Target="/ppt/notesMasters/notesMaster1.xml" Id="R864736b596434b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e626723cf94a4b" /><Relationship Type="http://schemas.openxmlformats.org/officeDocument/2006/relationships/notesMaster" Target="/ppt/notesMasters/notesMaster1.xml" Id="R5a73fc55138348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a3f8ceaf88420e" /><Relationship Type="http://schemas.openxmlformats.org/officeDocument/2006/relationships/notesMaster" Target="/ppt/notesMasters/notesMaster1.xml" Id="R66733f46792648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ea5a5f1d464e6a" /><Relationship Type="http://schemas.openxmlformats.org/officeDocument/2006/relationships/notesMaster" Target="/ppt/notesMasters/notesMaster1.xml" Id="R7883aff63f684f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ab6acb40594757" /><Relationship Type="http://schemas.openxmlformats.org/officeDocument/2006/relationships/notesMaster" Target="/ppt/notesMasters/notesMaster1.xml" Id="R8d028b62cbc140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category: governed orchestration, not task automation.</a:t>
            </a:r>
          </a:p>
          <a:p xmlns:a="http://schemas.openxmlformats.org/drawingml/2006/main">
            <a:r>
              <a:t>The product is working locally; the screenshot is from the authenticated application.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OrchPilot application screenshot, captured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customer pain as fragmented ownership, not a shortage of automation tools.</a:t>
            </a:r>
          </a:p>
          <a:p xmlns:a="http://schemas.openxmlformats.org/drawingml/2006/main">
            <a:r>
              <a:t>The investor question this sets up: who governs the full journey when people, systems and AI all participate?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Camunda platform positioning: https://camunda.com/platform/</a:t>
            </a:r>
          </a:p>
          <a:p xmlns:a="http://schemas.openxmlformats.org/drawingml/2006/main">
            <a:r>
              <a:t>- Gartner BOAT forecast: https://www.gartner.com/en/documents/6530402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that AI and human tasks are first-class nodes alongside deterministic control flow.</a:t>
            </a:r>
          </a:p>
          <a:p xmlns:a="http://schemas.openxmlformats.org/drawingml/2006/main">
            <a:r>
              <a:t>The schema-driven UI is the bridge from extensibility to product velocity.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OrchPilot application screenshot, captured 2026-08-26.</a:t>
            </a:r>
          </a:p>
          <a:p xmlns:a="http://schemas.openxmlformats.org/drawingml/2006/main">
            <a:r>
              <a:t>- Repository README.md and 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architectural claim is separation: workflows remain stable while integrations evolve as plugins.</a:t>
            </a:r>
          </a:p>
          <a:p xmlns:a="http://schemas.openxmlformats.org/drawingml/2006/main">
            <a:r>
              <a:t>Checkpointed execution and immutable versions support long-running, auditable work.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ARCHITECTURE.md, SECURITY.md, WORKFLOW_INSTANCE_LIFECYCLE.md.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as engineering-evidence metrics, not traction metrics.</a:t>
            </a:r>
          </a:p>
          <a:p xmlns:a="http://schemas.openxmlformats.org/drawingml/2006/main">
            <a:r>
              <a:t>Avoid implying code volume equals product-market fit; it establishes implementation depth and raises the diligence baseline.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 inventory from Workflow-OrchPilot/workflow-engine, counted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moat is not the canvas. It is the operational contract across plugins, state, humans and AI.</a:t>
            </a:r>
          </a:p>
          <a:p xmlns:a="http://schemas.openxmlformats.org/drawingml/2006/main">
            <a:r>
              <a:t>A future plugin marketplace can turn integration supply into a distribution and revenue loop.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ARCHITECTURE.md, PLUGIN_OPERATION_FRAMEWORK.md, AI_AGENT_NODE.md, SECURITY.md.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smaller, more directly relevant BOAT market; use hyperautomation only as adjacent context.</a:t>
            </a:r>
          </a:p>
          <a:p xmlns:a="http://schemas.openxmlformats.org/drawingml/2006/main">
            <a:r>
              <a:t>The implied 2025–2029 growth is directionally strong; do not overstate addressable share.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Gartner BOAT forecast: https://www.gartner.com/en/documents/6530402</a:t>
            </a:r>
          </a:p>
          <a:p xmlns:a="http://schemas.openxmlformats.org/drawingml/2006/main">
            <a:r>
              <a:t>- Gartner hyperautomation market map: https://www.gartner.com/en/documents/6165623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strategic comparison, not a feature-completeness certification.</a:t>
            </a:r>
          </a:p>
          <a:p xmlns:a="http://schemas.openxmlformats.org/drawingml/2006/main">
            <a:r>
              <a:t>Do not attack established vendors. Use them to define the white space.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n8n: https://n8n.io/pricing/</a:t>
            </a:r>
          </a:p>
          <a:p xmlns:a="http://schemas.openxmlformats.org/drawingml/2006/main">
            <a:r>
              <a:t>- Camunda: https://camunda.com/platform/</a:t>
            </a:r>
          </a:p>
          <a:p xmlns:a="http://schemas.openxmlformats.org/drawingml/2006/main">
            <a:r>
              <a:t>- Temporal: https://temporal.io/</a:t>
            </a:r>
          </a:p>
          <a:p xmlns:a="http://schemas.openxmlformats.org/drawingml/2006/main">
            <a:r>
              <a:t>- Zapier partner introduction: https://partnerportal.zapier.com/sys/document/openpdfpreview/Introduction%20to%20Zapier.pdf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Focus avoids the connector-count arms race and selects processes where governance and recovery are budget-worthy.</a:t>
            </a:r>
          </a:p>
          <a:p xmlns:a="http://schemas.openxmlformats.org/drawingml/2006/main">
            <a:r>
              <a:t>Design partners should bring one painful process, an executive owner and a measurable baseline.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Temporal platform-engineering use cases: https://temporal.io/solutions/platform-engineering</a:t>
            </a:r>
          </a:p>
          <a:p xmlns:a="http://schemas.openxmlformats.org/drawingml/2006/main">
            <a:r>
              <a:t>- Camunda use cases: https://camunda.com/platform/use-cases/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is intentionally presented as a hypothesis.</a:t>
            </a:r>
          </a:p>
          <a:p xmlns:a="http://schemas.openxmlformats.org/drawingml/2006/main">
            <a:r>
              <a:t>Execution-based value metrics are legible, but large customers will still demand predictable commitments and overage protection.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n8n pricing model context: https://n8n.io/pricing/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spend to de-risking, not feature volume.</a:t>
            </a:r>
          </a:p>
          <a:p xmlns:a="http://schemas.openxmlformats.org/drawingml/2006/main">
            <a:r>
              <a:t>The second production process is the early signal that OrchPilot is becoming a platform rather than a project.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Roadmap is a recommendation derived from repository assessment and competitor expectations.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Investors will find these gaps. Naming them builds credibility and shows capital discipline.</a:t>
            </a:r>
          </a:p>
          <a:p xmlns:a="http://schemas.openxmlformats.org/drawingml/2006/main">
            <a:r>
              <a:t>Do not claim enterprise readiness solely from feature presence; prove operational scale and procurement readiness.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assessment and current competitor positioning.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mission and the next proof points.</a:t>
            </a:r>
          </a:p>
          <a:p xmlns:a="http://schemas.openxmlformats.org/drawingml/2006/main">
            <a:r>
              <a:t>Insert the actual raise amount, runway, founder story and current traction before external distribution.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Milestones are proposed; no funding amount or traction was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fa39b7633c44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2445ad0c524fed" /><Relationship Type="http://schemas.openxmlformats.org/officeDocument/2006/relationships/slideLayout" Target="/ppt/slideLayouts/slideLayout1.xml" Id="Rd5d57942ee5445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d57942ee5445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e0c2fcbd24dbe" /><Relationship Type="http://schemas.openxmlformats.org/officeDocument/2006/relationships/image" Target="/ppt/media/image.jpeg" Id="R65018f2d348d41ed" /><Relationship Type="http://schemas.openxmlformats.org/officeDocument/2006/relationships/notesSlide" Target="/ppt/notesSlides/notesSlide1.xml" Id="R37ac8d34586141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bbeb37db8475b" /><Relationship Type="http://schemas.openxmlformats.org/officeDocument/2006/relationships/notesSlide" Target="/ppt/notesSlides/notesSlide2.xml" Id="Rec62c885338b4d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e62c318ee462f" /><Relationship Type="http://schemas.openxmlformats.org/officeDocument/2006/relationships/image" Target="/ppt/media/image2.jpeg" Id="R6384424a82a441c4" /><Relationship Type="http://schemas.openxmlformats.org/officeDocument/2006/relationships/notesSlide" Target="/ppt/notesSlides/notesSlide3.xml" Id="Rfa91811c8cc249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97dbdd9684a40" /><Relationship Type="http://schemas.openxmlformats.org/officeDocument/2006/relationships/notesSlide" Target="/ppt/notesSlides/notesSlide4.xml" Id="R3eae46fc6af547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ee3618d914457" /><Relationship Type="http://schemas.openxmlformats.org/officeDocument/2006/relationships/notesSlide" Target="/ppt/notesSlides/notesSlide5.xml" Id="R59517ef08d8344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195ea99754d3e" /><Relationship Type="http://schemas.openxmlformats.org/officeDocument/2006/relationships/notesSlide" Target="/ppt/notesSlides/notesSlide6.xml" Id="R0950208ad76141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e1086062d4a9f" /><Relationship Type="http://schemas.openxmlformats.org/officeDocument/2006/relationships/chart" Target="/ppt/slides/charts/chart1.xml" Id="R3beb25980a0a4096" /><Relationship Type="http://schemas.openxmlformats.org/officeDocument/2006/relationships/notesSlide" Target="/ppt/notesSlides/notesSlide7.xml" Id="R5672d8313d9e4a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628939c8a4137" /><Relationship Type="http://schemas.openxmlformats.org/officeDocument/2006/relationships/notesSlide" Target="/ppt/notesSlides/notesSlide8.xml" Id="R979871c392e542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f051292cf44e0" /><Relationship Type="http://schemas.openxmlformats.org/officeDocument/2006/relationships/notesSlide" Target="/ppt/notesSlides/notesSlide9.xml" Id="R89793d16517249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1a638533f474a" /><Relationship Type="http://schemas.openxmlformats.org/officeDocument/2006/relationships/notesSlide" Target="/ppt/notesSlides/notesSlide10.xml" Id="Rfaabc967393241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87112a9684bff" /><Relationship Type="http://schemas.openxmlformats.org/officeDocument/2006/relationships/notesSlide" Target="/ppt/notesSlides/notesSlide11.xml" Id="Rcddb3576ad3647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28e469de04f22" /><Relationship Type="http://schemas.openxmlformats.org/officeDocument/2006/relationships/notesSlide" Target="/ppt/notesSlides/notesSlide12.xml" Id="R2e389fb7174d4b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6d603e64a41eb" /><Relationship Type="http://schemas.openxmlformats.org/officeDocument/2006/relationships/notesSlide" Target="/ppt/notesSlides/notesSlide13.xml" Id="Rad055ed5996b465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BOAT spending ($B)</c:v>
          </c:tx>
          <c:spPr>
            <a:solidFill xmlns:a="http://schemas.openxmlformats.org/drawingml/2006/main">
              <a:srgbClr val="276EF1"/>
            </a:solidFill>
          </c:spPr>
          <c:cat>
            <c:numLit>
              <c:formatCode>General</c:formatCode>
              <c:ptCount val="2"/>
              <c:pt idx="0">
                <c:v>2025</c:v>
              </c:pt>
              <c:pt idx="1">
                <c:v>2029</c:v>
              </c:pt>
            </c:numLit>
          </c:cat>
          <c:val>
            <c:numLit>
              <c:formatCode>General</c:formatCode>
              <c:ptCount val="2"/>
              <c:pt idx="0">
                <c:v>7</c:v>
              </c:pt>
              <c:pt idx="1">
                <c:v>21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CED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D3C96-2AAB-4AFB-B6B7-065619E8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D5BC0-97E1-4ADB-B40E-9F103728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ORCHPILOT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183C4-FEE1-43A2-8A48-4ACDD2CE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18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The governed orchestration layer for people, systems and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65579-3134-4C69-96FC-55E50318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Durable workflows. Human accountability. Runtime-extensible integrations.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273A0-32A7-4FB7-B57A-137FB7E9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6174"/>
                </a:solidFill>
                <a:latin typeface="Arial"/>
                <a:ea typeface="Arial"/>
                <a:cs typeface="Arial"/>
              </a:rPr>
              <a:t>INVESTOR BRIEF • AUGUST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18f2d348d41ed"/>
          <a:srcRect xmlns:a="http://schemas.openxmlformats.org/drawingml/2006/main" l="4087" t="0" r="40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666750"/>
            <a:ext cx="5619750" cy="5429250"/>
          </a:xfrm>
          <a:prstGeom xmlns:a="http://schemas.openxmlformats.org/drawingml/2006/main" prst="roundRect">
            <a:avLst>
              <a:gd name="adj" fmla="val 1754"/>
            </a:avLst>
          </a:prstGeom>
        </p:spPr>
      </p:pic>
    </p:spTree>
    <p:extLst>
      <p:ext uri="{BB962C8B-B14F-4D97-AF65-F5344CB8AC3E}">
        <p14:creationId xmlns:p14="http://schemas.microsoft.com/office/powerpoint/2010/main" val="1077635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F0C27-C3BA-4441-B7FA-10AC4540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30C8F-4D6B-4E96-9805-0D43E0CA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Enterprise automation fails at the handoffs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DBAC2-D7E5-4EE4-A454-4D62C2E9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213FF-FA36-4ACD-BEAB-838132E0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9B9BF-A480-45DC-B21D-417382B9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0CB15-12A0-496F-BC8B-046C5F7B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Point integrations move data but do not own the end-to-end outcome.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F735D-6E8E-4A4F-8D49-EB1207E4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698BA-ED73-4C1A-9B2F-F2CD70CE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07144-8FE5-4085-BDF3-D9DC7877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Approvals, exceptions and accountability are often bolted on after design.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CF2DD-4CD1-40E3-A141-BCC99F3A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8217C-2605-4780-8808-33B90BFA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62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CDE20-ADDC-4E20-A86A-D65723C3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6237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Agents add adaptability—but also nondeterminism, cost and governance risk.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05BFB-FD1B-4C32-90D8-2623CAD9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1F20E-72F6-462A-B681-94336C1F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DF1D6-1F33-4139-BEB8-2B4B0DE8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57750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Retries, versioning, audit and recovery become custom plumbing in every team.</a:t>
            </a:r>
          </a:p>
        </p:txBody>
      </p:sp>
    </p:spTree>
    <p:extLst>
      <p:ext uri="{BB962C8B-B14F-4D97-AF65-F5344CB8AC3E}">
        <p14:creationId xmlns:p14="http://schemas.microsoft.com/office/powerpoint/2010/main" val="947453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3C926-3C21-4B71-81B4-C7CBF4B9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D8E77-77C0-432B-84D2-15E1A9B3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One canvas models the journey; one engine owns the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6364F-388C-4EF9-8464-F0131134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4424a82a441c4"/>
          <a:stretch xmlns:a="http://schemas.openxmlformats.org/drawingml/2006/main"/>
        </p:blipFill>
        <p:spPr>
          <a:xfrm xmlns:a="http://schemas.openxmlformats.org/drawingml/2006/main">
            <a:off x="1616774" y="1381125"/>
            <a:ext cx="5529451" cy="4905375"/>
          </a:xfrm>
          <a:prstGeom xmlns:a="http://schemas.openxmlformats.org/drawingml/2006/main" prst="roundRect">
            <a:avLst>
              <a:gd name="adj" fmla="val 194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D79B1-D712-4EA4-8CD0-741059A0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Built-in control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7CCB3-BD59-4876-B3A3-9B659E94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43125"/>
            <a:ext cx="2619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0ADD8-C5DF-47C0-9EF6-480E80D7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05050"/>
            <a:ext cx="114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D189B-4371-47BC-B6D3-223406AA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AI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21D37-D42E-49C6-A91A-4F4CAF8B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24175"/>
            <a:ext cx="2619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E4221-A7E3-4111-874C-4AF73B35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86100"/>
            <a:ext cx="114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BFCE7-DFDA-488C-A60C-ECF88544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Human Form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B2863-B319-41CF-A308-05ACE9EA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05225"/>
            <a:ext cx="2619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20B90-330E-4F96-B9B6-E5482FC0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67150"/>
            <a:ext cx="114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AD883-2F10-45F1-A4BF-F72FD5C7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719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0C1DF-B01A-44FC-85E4-5CE1E1FB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619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DCE4D-1DE6-4532-92B3-C27A5B97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48200"/>
            <a:ext cx="114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9F423-A1C6-4F0A-BD95-B2723BD4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529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Immutable publish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77FF2-4CCF-4371-AF48-7D059905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8162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The UI is schema-driven: plugins can publish node definitions without a front-end release.</a:t>
            </a:r>
          </a:p>
        </p:txBody>
      </p:sp>
    </p:spTree>
    <p:extLst>
      <p:ext uri="{BB962C8B-B14F-4D97-AF65-F5344CB8AC3E}">
        <p14:creationId xmlns:p14="http://schemas.microsoft.com/office/powerpoint/2010/main" val="1313991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57E7F-2E44-425E-9043-0DF070E2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2BE01-D6A2-4212-B38A-E344528C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A control plane separates process intent from integration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0690A-8E82-48BF-A7FE-C1F4B892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3D0D8-0AAA-421C-8250-8BBCECE0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238375" cy="2333625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33C58-1358-45A1-8DB2-252E3D9A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1ECFC-4027-4246-ACFC-CEA07E54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Visual graph</a:t>
            </a:r>
          </a:p>
          <a:p xmlns:a="http://schemas.openxmlformats.org/drawingml/2006/main">
            <a:pPr algn="l">
              <a:defRPr sz="15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Versions +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17137-3889-41DA-98FE-8B2B2D08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6225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E68EA-40A6-4AED-BE58-4995B994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238375" cy="2333625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BB249-790D-47B9-A1AF-B827B108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38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D8609-D682-4642-80B9-51823A6E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5750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Durable state</a:t>
            </a:r>
          </a:p>
          <a:p xmlns:a="http://schemas.openxmlformats.org/drawingml/2006/main">
            <a:pPr algn="l">
              <a:defRPr sz="15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Retries + compensation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376E3-36F3-4FDE-B72F-AE027C13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6225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0A622-6814-4FBC-B953-2B9B5E79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2238375" cy="2333625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69D00-85F3-4C3F-AE29-6D757B73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Extend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D0C0F-AF8A-4971-B894-F7363585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65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Isolated plugin JARs</a:t>
            </a:r>
          </a:p>
          <a:p xmlns:a="http://schemas.openxmlformats.org/drawingml/2006/main">
            <a:pPr algn="l">
              <a:defRPr sz="15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Runtime registration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5B803-E45E-443C-A592-A6453E6A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B7644-9F85-4FE7-954B-6DE1A8A7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2238375" cy="2333625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A22AD6-DB7E-4395-8493-024B9D3F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38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Govern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744FEF-29B0-49B7-9183-A821E563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5750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RBAC + audit</a:t>
            </a:r>
          </a:p>
          <a:p xmlns:a="http://schemas.openxmlformats.org/drawingml/2006/main">
            <a:pPr algn="l">
              <a:defRPr sz="15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Encrypted secrets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08F354-15C2-4F03-BE0C-09205D35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09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C1BD5-88ED-464A-BD78-DCE75B8F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MongoDB persistence • execution checkpoints • event and schedule entry points • REST API</a:t>
            </a:r>
          </a:p>
        </p:txBody>
      </p:sp>
    </p:spTree>
    <p:extLst>
      <p:ext uri="{BB962C8B-B14F-4D97-AF65-F5344CB8AC3E}">
        <p14:creationId xmlns:p14="http://schemas.microsoft.com/office/powerpoint/2010/main" val="1513416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F779B-BEB7-446A-AB60-CA7C0B43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WHAT IS BUILT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790B6-CFCA-4B10-B5DA-48C8E6CB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This is a platform foundation—not a prototype shell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DA8FA-5896-4BDF-B850-27932F16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521B6-F9EE-40DC-9FD9-B6E784EB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Architecture-wide review of source-only files (excluding generated targets and dependencies).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F7D2D-087D-49BA-AF2F-56CC0465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34290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7F5FA-D5EB-4D7E-973D-22E9F706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80K+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6793A-8BF7-498B-A34A-9DCD8FAF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Java production 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EFB2B-E6FD-42FB-901E-226BDFDC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38375"/>
            <a:ext cx="34290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50574-862A-4D83-95AA-F5542FFA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5EEC6-600E-4625-995E-97564472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67125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REST handlers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E6CAA-DF26-4A7C-A47D-56EA3A1D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38375"/>
            <a:ext cx="34290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AAE77-FC38-4E7E-8133-FFA49545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193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F93C4-31E4-40B9-A84D-60676741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67125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plugin modules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6B146-B9C6-45D4-A260-BD784F8C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86174"/>
                </a:solidFill>
                <a:latin typeface="Arial"/>
                <a:ea typeface="Arial"/>
                <a:cs typeface="Arial"/>
              </a:rPr>
              <a:t>Also: 73 core-engine test classes • 28.6K Angular source lines • 27 REST controllers</a:t>
            </a:r>
          </a:p>
        </p:txBody>
      </p:sp>
    </p:spTree>
    <p:extLst>
      <p:ext uri="{BB962C8B-B14F-4D97-AF65-F5344CB8AC3E}">
        <p14:creationId xmlns:p14="http://schemas.microsoft.com/office/powerpoint/2010/main" val="1884950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611B1-A192-425F-82C2-0BF38C82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WHY IT CAN 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04E9E-152E-4CC1-AD78-F948DFD0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The moat compounds at the boundary between reliability and extensibility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90AA6-EAA9-4FC0-971C-1F93D096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08339-8450-4B01-8BCF-DF587214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096625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29B0F-BCDB-4A0C-83ED-7A88ED1F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Runtime plugin economy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AFF1A-1F5F-443D-8B91-829517BF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Validated JARs load in isolated classloaders; new node types appear without engine restart.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3FF3D-B5AF-4A23-93A6-FFFE6C36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11096625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48747-4973-4C8B-AE7C-DE8920D5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Execution 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09865-78B2-4B01-9A88-DF4F0046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3367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Immutable published versions, checkpoint recovery, deterministic idempotency keys and compensation policies.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17DD9-1759-4AC8-A7B0-D7918915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1096625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82B82-0059-41E6-9CA5-D6EED854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Human accountability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9AA82-77F6-44AF-8D06-7F071A25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290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Server-validated forms, assignment rules, history and non-repudiable completion semantics.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BDA76-BEB5-47EB-8D1E-E3307ABD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11096625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836F0-A40F-4067-9302-9B1FABF6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AI with guardrails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CBFA9-B985-4BD3-A13B-A38D9DCC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244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Provider abstraction, encrypted credentials, usage visibility and deterministic workflow boundaries.</a:t>
            </a:r>
          </a:p>
        </p:txBody>
      </p:sp>
    </p:spTree>
    <p:extLst>
      <p:ext uri="{BB962C8B-B14F-4D97-AF65-F5344CB8AC3E}">
        <p14:creationId xmlns:p14="http://schemas.microsoft.com/office/powerpoint/2010/main" val="9434114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F56C2-C58C-4C91-A0DC-A063029D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MARKET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27759-D238-424D-A67B-FAA07758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24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Orchestration spending is consolidating into a strategic control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C1EBD-3469-45BF-8F73-3EA838E6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eb25980a0a409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D8D80-5AB1-4D77-9BBF-4F67D5D5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3×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FA6C4-B41A-45E8-9C73-70257475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62250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111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projected expansion</a:t>
            </a:r>
          </a:p>
          <a:p xmlns:a="http://schemas.openxmlformats.org/drawingml/2006/main">
            <a:pPr algn="l">
              <a:defRPr sz="18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in consolidated BOAT spending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38688-1F5F-460E-9FF0-F6798CE2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00500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Adjacent hyperautomation software is projected to reach $119.2B by 2028.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0D3E7-F703-4025-9B7C-77AE239B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863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Market figures are third-party forecasts—not OrchPilot revenue projections.</a:t>
            </a:r>
          </a:p>
        </p:txBody>
      </p:sp>
    </p:spTree>
    <p:extLst>
      <p:ext uri="{BB962C8B-B14F-4D97-AF65-F5344CB8AC3E}">
        <p14:creationId xmlns:p14="http://schemas.microsoft.com/office/powerpoint/2010/main" val="15730342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6CB2A88-E8F1-4C93-A444-A6497889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COMPETITIVE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290D2-B665-42DB-83C0-EEF93BA6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62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OrchPilot should own the governed middle—not compete on connector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F195E-F8AA-48DE-B3B7-A88752AE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C9FF9-4679-4248-9CCD-AF841859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BC796-1A25-4BB5-886D-26F76631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2400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OrchPilot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CCDC4-23CF-4B45-A7DD-1BD09D74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2400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n8n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607B1-49FE-4AD3-8E22-263BCE8E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Camunda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5B453-4EDD-4977-B52C-59F34A99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Temporal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A344E-C724-4795-852C-F035EFB7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52400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Zapier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CE94E-D75A-4B9C-AF88-0171A92A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04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560B0-0572-402E-B15A-E3AA3DAE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1933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Visual business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2F40F-3F43-46AF-862A-30F53A98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478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ED80B-746F-4D00-8760-386B3DD9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1145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Strong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C7CF3-00A6-41D5-8F35-6EBB5E32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5147B-12CA-4326-AA1D-6788748D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Strong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DE190-68A6-4093-A82E-AAF63088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FE53D-13D5-4CDA-BBFE-7A097029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145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Strong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70C4D-80DB-4F72-AAFF-6D39E135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34B13-2D5D-4D7A-B7BF-906B9F2E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Code-first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A5FD3-D313-4D64-9EDB-147D8B29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0478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FA35C-322C-4E2B-BA7B-21B62BD9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1145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Strong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85171-4330-46B6-BAFE-28A8F6AB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1933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Durable 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57ECD-2F0A-496E-99BC-CEE162F0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8384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7572A2-8CF1-43C3-B418-12F50B59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384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86EF38-F1D3-404F-8845-70E5FF0E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384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Strong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441BF-EDA4-481B-B40A-2599796B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Category leader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17A1D6-68F0-40DA-927B-EC780E1B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8384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Limited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820C3F-7157-46BA-A9FA-01E011E2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204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532C01-EDFC-46B0-A754-B0504EB0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1933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Human tasks + forms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B0EB5A-2BA5-4FAC-AF95-A11C4EF7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956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D53CE0-2170-4DFC-9E93-23B16E51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5623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886210-F820-4F3F-803F-6705C323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956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767E1A-59E6-460D-BA5F-B2CCCE2D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Workflow step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515067-3471-4AED-AD61-E0B5CC3B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956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B34974-72CF-43B9-9DC8-F022DD23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5623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Strong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131885-A385-40B2-8703-1A50ECF0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956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7FEF5D-6CED-462A-BFE2-C354D5D7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Custom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ABBFD3-1321-4645-91E8-3194E22D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4956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A77621-DB16-4030-A462-6285204E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5623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Basic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29B432-C82E-4D3B-885F-3C84FE27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1933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Runtime plugin isolation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5CD978-6FE8-4E48-B968-EB883EBA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2862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Differentiator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2D2257-CB49-4BB7-86AE-03D1F5F3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862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Node ecosystem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0E5C6B-10D2-4110-B72D-4334CA9C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2862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Connectors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3890C2-C40B-469C-A3B5-9F268FFE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Activities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89DF59-9B4D-47FD-8A73-A6A6CBCD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2862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App ecosystem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A0FFC7-AB19-4F28-9F49-A347F7F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43475"/>
            <a:ext cx="2047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8370EB-BF53-4238-B7E2-7ED41CCF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933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Self-host / control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88BE4C-7AFB-4CB9-B7BA-6F63EBBE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434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DEF3A3-5D7A-40F4-8F09-5C3D828B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0101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680196-2104-40A0-8796-51464596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434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E0EA69-9159-43E7-A10B-37623B3C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101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D40E07-C8AB-46DF-975B-B935A394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434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BA8777-2196-46BA-9C0C-7A9E8EEB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0101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745063-2C69-4B7C-8AFB-6AF09BE0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434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E3B5B4-49F1-4FD9-A328-F5E9987D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01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F30BB1-5C5B-427A-BFAC-E4516793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43475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B8C2CE-D533-4B05-A77C-80D0C76A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5010150"/>
            <a:ext cx="1552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Cloud-first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E6AD837-A583-445B-9415-4983F6E4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7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Positioning thesis: more governed than low-code automation; more accessible and extensible than developer-only orchestration.</a:t>
            </a:r>
          </a:p>
        </p:txBody>
      </p:sp>
    </p:spTree>
    <p:extLst>
      <p:ext uri="{BB962C8B-B14F-4D97-AF65-F5344CB8AC3E}">
        <p14:creationId xmlns:p14="http://schemas.microsoft.com/office/powerpoint/2010/main" val="9735863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A7A97-9052-4AD4-9C8B-F5E2AE0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BEACHHEAD CUSTOMERS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06A39-02AD-44A2-AFAC-8C3AA08E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1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Start where workflows are long-lived, audited and integration-heavy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3835E-E535-4D6B-A9FE-53B16DF8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A1506-9C33-43DA-8A87-8D40CE2F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70C23-FD81-44C9-A2CD-D2659954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Platform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FFB0D-4D19-4503-99C5-8144667A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Cloud provisioning, access approvals, environment lifecycle and safe rollback.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F00D5-BE5A-4439-A5D3-A29FDA12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6997B-884C-4705-97C0-424D87CC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336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Regulated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A0627-63B5-4ABF-AAE9-CC94E11F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95625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Customer onboarding, compliance review, exception handling and evidentiary audit.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2C0EB-0F90-4DBE-A63E-A9470807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5AAF5-8738-4297-9A14-4307BBEF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336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IT service delivery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04899-AF4F-4FFF-87FF-9D0460DD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Cross-system incidents, remediation, human escalation and post-action records.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CED45-6422-4156-9241-24A72009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1109662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945D9-23C3-404C-9DE2-D7B666FF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49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Ideal design partner: 500–5,000 employees • hybrid infrastructure • recurring approval-heavy process • clear compliance owner</a:t>
            </a:r>
          </a:p>
        </p:txBody>
      </p:sp>
    </p:spTree>
    <p:extLst>
      <p:ext uri="{BB962C8B-B14F-4D97-AF65-F5344CB8AC3E}">
        <p14:creationId xmlns:p14="http://schemas.microsoft.com/office/powerpoint/2010/main" val="17322078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66524-1CC8-40E2-BF85-69CC8204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PROPOSED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1CD40-2567-4444-9999-9277E2C2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A hybrid platform model can align price with operational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D13CE-600E-4208-926E-35AEDD2D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69C84-D4E5-494E-8D71-0095E008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AEF0A-CA05-492B-ACAC-7E3B3453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24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Platform subscription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5182E-DAB9-4D4B-8F81-AFE5B51E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240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Annual fee for environments, governance, collaboration, support and deployment choice.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7EE5B-4DD5-4979-9DEC-9229463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61943-43B5-470F-BC38-0BC617C0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908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Execution bands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5975F-D8D6-4A94-8802-071EE320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908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Usage grows with completed workflow value—not seats or number of design drafts.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6336C-5434-4A9A-BA4B-9469E099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576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9E923-72C4-4B0A-9E97-4435E49D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576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Private plugin marketplace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26243-0188-4562-8CE5-B38AA151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576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Paid certified integrations, partner revenue share and enterprise connector packs.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F9508-EB47-4707-9425-61FC1022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244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7A9BE-592F-45BB-AD0D-F6F46C6E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244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Implementation partners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29F78-5BEA-4D25-A1D2-5A263690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244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Fixed-scope launch packages; services taper as partner capacity compounds.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F235E-59FF-4AFA-B35D-DBFF15A5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Recommendation—not current pricing. Validate willingness-to-pay with five design partners before fixing tiers.</a:t>
            </a:r>
          </a:p>
        </p:txBody>
      </p:sp>
    </p:spTree>
    <p:extLst>
      <p:ext uri="{BB962C8B-B14F-4D97-AF65-F5344CB8AC3E}">
        <p14:creationId xmlns:p14="http://schemas.microsoft.com/office/powerpoint/2010/main" val="19818176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2029A-5271-4715-B34D-1F5D2338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DE-RISKING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98847-3B04-42CA-8E74-1DBB00C1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9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Eighteen months turns strong engineering into an investable company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E7213-AA9E-4840-BE3D-591841DA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D79E1-1FBA-4969-9245-1F6B49E1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6679F-F617-4EB9-9E4D-11A8EE97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C14FE-BBC8-42C1-BB4C-C3309D22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0–3 months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32049-605D-473C-A488-751DC090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Prove wedge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4A876-01E7-45F0-B98E-234EA0FC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5 design partners</a:t>
            </a:r>
          </a:p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1 repeatable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D2F59-9894-438E-89BB-A0828219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337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919B3-297A-4C1F-B25B-8D43FED7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193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4–9 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062A1-9395-43AC-9BEB-59FEF322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147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Enterprise readiness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1FE30-31CC-42C3-97AF-63C9048A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38625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SSO/SCIM • HA</a:t>
            </a:r>
          </a:p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observability •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9250A-095F-4E9F-8770-7A67B5DE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337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F1622-89AA-4000-93FA-57B765CC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193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10–18 months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4DC9C-8E55-4BAE-B106-EAE1DC53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147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Scale distribution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BD40F-AD56-4918-890C-5E447218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38625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3 paid pilots</a:t>
            </a:r>
          </a:p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partner/plugin program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6EB06-34C5-404E-91E8-2F6DB8AC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North-star validation: time-to-first-production workflow, successful execution rate, human wait time, and expansion to a second process.</a:t>
            </a:r>
          </a:p>
        </p:txBody>
      </p:sp>
    </p:spTree>
    <p:extLst>
      <p:ext uri="{BB962C8B-B14F-4D97-AF65-F5344CB8AC3E}">
        <p14:creationId xmlns:p14="http://schemas.microsoft.com/office/powerpoint/2010/main" val="19069493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D4175-1EE8-47C4-8DEC-FB8A81C5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E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6EF1"/>
                </a:solidFill>
                <a:latin typeface="Arial"/>
                <a:ea typeface="Arial"/>
                <a:cs typeface="Arial"/>
              </a:rPr>
              <a:t>RISKS AND ANSWERS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A3976-BF74-488A-AC9D-39E327CC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7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The biggest risk is breadth before proof—not technical feasibility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81202-B059-450D-94C9-FA2EA266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A76A5-B923-42C2-A358-B8DD412E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2857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AA5B3-6E7E-4342-ACD7-95596C67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Crowded category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D0921-5A64-431C-BBF5-5016EA30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Anchor on governed, approval-heavy orchestration; avoid generic automation messaging.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DBD07-0EEA-451F-9AA4-F05FDECE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2857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789B1-D9AD-4C59-9ED7-E106A5DC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Enterprise trust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F60F1-0FCA-40E8-BBC6-8C7265FF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384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Prioritize SSO/SCIM, HA benchmarks, deployment automation, security review and support SLAs.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CF542-633A-461A-898B-7D9DC56C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2857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4016A-41E3-45EF-9FAF-2D2B9699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Connector cold 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11E9D-2CB4-4178-9765-FB6EF902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052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Ship certified packs for one vertical and expose a stable SDK/marketplace path.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7710F-AAA2-45EC-9A43-E0888B73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2857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1F600-840C-4644-87B2-EBC7577D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70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36"/>
                </a:solidFill>
                <a:latin typeface="Arial"/>
                <a:ea typeface="Arial"/>
                <a:cs typeface="Arial"/>
              </a:rPr>
              <a:t>Founder-market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77BE9-24A0-4081-ABE5-923EF2EA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720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Run structured discovery; publish quantified before/after outcomes from pilots.</a:t>
            </a:r>
          </a:p>
        </p:txBody>
      </p:sp>
    </p:spTree>
    <p:extLst>
      <p:ext uri="{BB962C8B-B14F-4D97-AF65-F5344CB8AC3E}">
        <p14:creationId xmlns:p14="http://schemas.microsoft.com/office/powerpoint/2010/main" val="6694495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DECF8-4B35-4F64-A87D-CC09E988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C7F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C7F7"/>
                </a:solidFill>
                <a:latin typeface="Arial"/>
                <a:ea typeface="Arial"/>
                <a:cs typeface="Arial"/>
              </a:rPr>
              <a:t>ORCHPILOT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F36C3-6CB2-441E-988F-9D48D79C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every critical workflow recoverable, governable and extensible.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72258-1B2F-42BE-907A-911481F5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C7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C7F7"/>
                </a:solidFill>
                <a:latin typeface="Arial"/>
                <a:ea typeface="Arial"/>
                <a:cs typeface="Arial"/>
              </a:rPr>
              <a:t>Seed objective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5F113-357A-4863-80A8-3132C7B0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790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2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Convert a working orchestration platform into repeatable enterprise adoption.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12F6A-46FB-4380-9C6E-0158DE2B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5E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5EE"/>
                </a:solidFill>
                <a:latin typeface="Arial"/>
                <a:ea typeface="Arial"/>
                <a:cs typeface="Arial"/>
              </a:rPr>
              <a:t>Use of funds: enterprise readiness • 5 design partners • 3 paid pilots • partner-led integration supply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48B5A-7544-48C8-B533-F74F7A89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A0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A0C4"/>
                </a:solidFill>
                <a:latin typeface="Arial"/>
                <a:ea typeface="Arial"/>
                <a:cs typeface="Arial"/>
              </a:rPr>
              <a:t>Funding amount and valuation: INSERT AFTER FOUNDER DECISION</a:t>
            </a:r>
          </a:p>
        </p:txBody>
      </p:sp>
    </p:spTree>
    <p:extLst>
      <p:ext uri="{BB962C8B-B14F-4D97-AF65-F5344CB8AC3E}">
        <p14:creationId xmlns:p14="http://schemas.microsoft.com/office/powerpoint/2010/main" val="798240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2026-08-26T16:19:50.3730000Z</dcterms:created>
  <dcterms:modified xsi:type="dcterms:W3CDTF">2026-08-26T16:19:50.3730000Z</dcterms:modified>
</coreProperties>
</file>